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57" r:id="rId3"/>
    <p:sldId id="261" r:id="rId4"/>
    <p:sldId id="258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6ED"/>
    <a:srgbClr val="AD91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5"/>
    <p:restoredTop sz="94692"/>
  </p:normalViewPr>
  <p:slideViewPr>
    <p:cSldViewPr snapToGrid="0">
      <p:cViewPr varScale="1">
        <p:scale>
          <a:sx n="90" d="100"/>
          <a:sy n="90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177C98-8640-5D43-A639-19404624E83E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F213A7-2DE2-DD46-A2A3-C30A0C2D8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62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F213A7-2DE2-DD46-A2A3-C30A0C2D809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45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6BF29-6B19-EC7E-A2DD-2EBB3473AB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B1BDB-159C-FB72-0CF0-C16D69846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AAD37-0E50-AF3B-9DBB-5B7800A3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2F304-A5A9-EB57-9A9C-6CE390192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45860-B758-C628-4D62-10186068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560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4A747-643C-94FE-7948-0D70DB2D4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30926-B61C-CE82-772A-88A26B96C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E98FB-DC12-1D28-A21F-D248B2A2C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B1FB2-5C83-8BF2-1849-284E308DA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F87F7A-13DC-13B1-CBC2-C7F18D278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79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7FA2C-E59C-FE31-5949-C630925D3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BAA4C8-A333-4C54-2ED1-40252B1A49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B2ACB-E2DB-0A1D-9BE0-098E9C620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1D704-4EE3-921E-0456-709EE2A68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F385D-4E41-12CE-2D8A-0E0BFB5B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0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52AD-2D9C-FCF7-4F18-674BE262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46F57-DF7F-9131-43F1-AC5810F226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4FE8F-D0DE-CFCC-245A-846D62C6E1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6A4D4E-B3C4-7221-DE63-4FAED0AB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3C5B6-9703-262B-9359-394FDD36A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734DEC-2C2A-CFCA-4EDD-F7B5F847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5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44B5-A6DE-CEA7-331B-40A2EDC66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AFFF4C-3D42-26E9-3384-D99AF161D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A73B2D-F916-CEAE-841E-72A554CF6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7AA89-039C-8E87-3130-B2CEB615F6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788904-E662-77A9-C50E-40F69329A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828628-D7EF-3AAD-2310-F9704C69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821A98-EDD0-70A0-089A-93BFD0771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C6AC15-6419-04DA-59ED-29B1DF3B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07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1BEC5-B07B-65AF-322C-D1F3EE01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5BEF91-8694-8226-5C27-D2D2CB30A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4479-C228-EC4A-64F5-819140D6F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8BEBEB-A3A7-7DE2-9597-3D1B8ED1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7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C0B3D-8C00-E2C6-A43A-D91371D3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46E26-0221-268D-A62B-D5721B1F7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CF77B-45EE-258D-B261-5588169E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245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A2A01-1634-35B9-0AC2-8CE3D50FB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F1B12-E508-B44C-5A71-F36ED331E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2D01A8-940F-3E26-DF83-4668E67B5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D2124-2578-A1E4-4235-9077EA481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41D75-DC01-C333-D917-A5F6588F4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A9EFA-39FA-EAA8-DB58-5592855A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2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6B6F0-7B3D-EE96-889B-BE4431682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3F490A-FA2B-C323-148F-0D07032A301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2D527-064A-BE31-5E1D-C1EB1A9A0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E078A5-1DE0-3F3A-B325-9633AB14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59993C-B257-4C58-A6DF-A85C14E0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99BB13-E69A-3010-1201-15EFA78A0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429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A553E-EA86-90DB-375A-55C33F18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308D6-2A85-3C80-47C4-FB33321DC4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977CF-D314-7086-B2AB-34C154F9F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8923BB-A029-E038-2B0B-B1837B587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FE266-F73D-69FD-345F-005C0D38E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18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E412B1-8D90-B142-EFC8-A2E85FBBBC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789FE-EE63-2FB8-1FDF-163ED604BB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1FD4A-416F-7577-12F3-6752847B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DE225-E494-CBF9-85E8-BD47FCEB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FE95F-2745-3462-8BC6-6D26E9AE6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971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F75469-1A0E-07C1-7E0D-36C79EFFD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C0386-FA82-6942-252F-705C0A23B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E4CD6-3736-798C-15B4-A19F04A0E7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F65C9A-F1A7-EA48-B76D-7A9D7A1C0B32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C5AF-9E3C-EFBE-1D88-B2A9C5D3C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18C8B-801A-FE3E-A96A-2C7C21C1D0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6FB0D1-5EE5-A942-AAB8-C6067515F3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68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0FFF-D67B-BD2B-FB8F-7884903AD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577E5-423B-1F07-3A21-F7C03BEB7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32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1ECB4-CB28-BA88-7AB7-D48F7E5E73E5}"/>
              </a:ext>
            </a:extLst>
          </p:cNvPr>
          <p:cNvSpPr txBox="1"/>
          <p:nvPr/>
        </p:nvSpPr>
        <p:spPr>
          <a:xfrm>
            <a:off x="6858000" y="2895600"/>
            <a:ext cx="50546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CONUS-level scaling patterns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Scaling is consistently super linear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Some variability across conus (color-coding by category might be better – need to bootstrap for confidence intervals)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cool how similar this looks to the JGR paper in terms of pattern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visually clear delineations geographically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47B2F0-28B7-50D6-E5F3-845F4F2FC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3924300"/>
            <a:ext cx="5676900" cy="2260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E3C2CA-963D-104E-1F96-985555F42005}"/>
              </a:ext>
            </a:extLst>
          </p:cNvPr>
          <p:cNvSpPr txBox="1"/>
          <p:nvPr/>
        </p:nvSpPr>
        <p:spPr>
          <a:xfrm>
            <a:off x="7137400" y="1411069"/>
            <a:ext cx="490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Key point 1: metabolism allometry is consistently super-linear across CONUS</a:t>
            </a:r>
          </a:p>
        </p:txBody>
      </p:sp>
      <p:pic>
        <p:nvPicPr>
          <p:cNvPr id="7" name="Picture 6" descr="Image preview">
            <a:extLst>
              <a:ext uri="{FF2B5EF4-FFF2-40B4-BE49-F238E27FC236}">
                <a16:creationId xmlns:a16="http://schemas.microsoft.com/office/drawing/2014/main" id="{7B75384C-13C3-26B6-EEC5-12000A1E3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425"/>
          <a:stretch>
            <a:fillRect/>
          </a:stretch>
        </p:blipFill>
        <p:spPr>
          <a:xfrm>
            <a:off x="463550" y="295705"/>
            <a:ext cx="5816600" cy="352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50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preview">
            <a:extLst>
              <a:ext uri="{FF2B5EF4-FFF2-40B4-BE49-F238E27FC236}">
                <a16:creationId xmlns:a16="http://schemas.microsoft.com/office/drawing/2014/main" id="{81667DA3-424E-7233-7C82-15332F8F05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179" b="39425"/>
          <a:stretch>
            <a:fillRect/>
          </a:stretch>
        </p:blipFill>
        <p:spPr>
          <a:xfrm>
            <a:off x="352232" y="-17648"/>
            <a:ext cx="4331086" cy="59869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58AD71D-CB7F-1093-0907-AC38C90BDD86}"/>
              </a:ext>
            </a:extLst>
          </p:cNvPr>
          <p:cNvSpPr txBox="1"/>
          <p:nvPr/>
        </p:nvSpPr>
        <p:spPr>
          <a:xfrm flipH="1">
            <a:off x="7883334" y="258821"/>
            <a:ext cx="384511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 – cumulative GPP / watershed area</a:t>
            </a:r>
          </a:p>
          <a:p>
            <a:r>
              <a:rPr lang="en-US" dirty="0"/>
              <a:t>X = upstream area</a:t>
            </a:r>
          </a:p>
          <a:p>
            <a:endParaRPr lang="en-US" dirty="0"/>
          </a:p>
          <a:p>
            <a:r>
              <a:rPr lang="en-US" dirty="0"/>
              <a:t>Our data are observed, but NOT fitting a best fit line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Median slope/intercept for log-cumulative rate / log-cumulative area (1.5, 2)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Feed vectors into slopes/intercepts -&gt; one rate per area (g O2/d)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Normalize vector to area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Plot – it should curve up (because m&gt;1) – gives us our theoretical space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Plot B – our actual data – compare our patterns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96FAAC7-C9E8-9C88-D174-E4EE86C31253}"/>
              </a:ext>
            </a:extLst>
          </p:cNvPr>
          <p:cNvCxnSpPr/>
          <p:nvPr/>
        </p:nvCxnSpPr>
        <p:spPr>
          <a:xfrm flipV="1">
            <a:off x="5005918" y="3864334"/>
            <a:ext cx="0" cy="1956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736DA4-6282-17B3-0E1F-8D57054FAD4E}"/>
              </a:ext>
            </a:extLst>
          </p:cNvPr>
          <p:cNvCxnSpPr>
            <a:cxnSpLocks/>
          </p:cNvCxnSpPr>
          <p:nvPr/>
        </p:nvCxnSpPr>
        <p:spPr>
          <a:xfrm>
            <a:off x="5005918" y="5820355"/>
            <a:ext cx="19149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D2E886B-AB49-AB98-8E2E-B4E4F380ADC9}"/>
              </a:ext>
            </a:extLst>
          </p:cNvPr>
          <p:cNvCxnSpPr/>
          <p:nvPr/>
        </p:nvCxnSpPr>
        <p:spPr>
          <a:xfrm flipV="1">
            <a:off x="5005918" y="3923969"/>
            <a:ext cx="1743986" cy="18367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5D51682-ECD0-5680-9F57-B5BB5BFB511D}"/>
              </a:ext>
            </a:extLst>
          </p:cNvPr>
          <p:cNvSpPr/>
          <p:nvPr/>
        </p:nvSpPr>
        <p:spPr>
          <a:xfrm rot="18713141">
            <a:off x="4911561" y="5280173"/>
            <a:ext cx="882595" cy="1987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3C8CBE16-6994-895C-CE67-E5B394555A3C}"/>
              </a:ext>
            </a:extLst>
          </p:cNvPr>
          <p:cNvSpPr/>
          <p:nvPr/>
        </p:nvSpPr>
        <p:spPr>
          <a:xfrm>
            <a:off x="5049078" y="4292987"/>
            <a:ext cx="2137188" cy="1463757"/>
          </a:xfrm>
          <a:custGeom>
            <a:avLst/>
            <a:gdLst>
              <a:gd name="csX0" fmla="*/ 0 w 2137188"/>
              <a:gd name="csY0" fmla="*/ 1463757 h 1463757"/>
              <a:gd name="csX1" fmla="*/ 771277 w 2137188"/>
              <a:gd name="csY1" fmla="*/ 668627 h 1463757"/>
              <a:gd name="csX2" fmla="*/ 2019632 w 2137188"/>
              <a:gd name="csY2" fmla="*/ 56376 h 1463757"/>
              <a:gd name="csX3" fmla="*/ 2011680 w 2137188"/>
              <a:gd name="csY3" fmla="*/ 64328 h 14637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37188" h="1463757">
                <a:moveTo>
                  <a:pt x="0" y="1463757"/>
                </a:moveTo>
                <a:cubicBezTo>
                  <a:pt x="217336" y="1183473"/>
                  <a:pt x="434672" y="903190"/>
                  <a:pt x="771277" y="668627"/>
                </a:cubicBezTo>
                <a:cubicBezTo>
                  <a:pt x="1107882" y="434064"/>
                  <a:pt x="2019632" y="56376"/>
                  <a:pt x="2019632" y="56376"/>
                </a:cubicBezTo>
                <a:cubicBezTo>
                  <a:pt x="2226366" y="-44340"/>
                  <a:pt x="2119023" y="9994"/>
                  <a:pt x="2011680" y="64328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2E5C89-E4AD-49F6-58FA-CAF0F7517918}"/>
              </a:ext>
            </a:extLst>
          </p:cNvPr>
          <p:cNvSpPr txBox="1"/>
          <p:nvPr/>
        </p:nvSpPr>
        <p:spPr>
          <a:xfrm>
            <a:off x="6863503" y="4473012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= 0.75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C0E12-2C0C-86A3-D153-8DE184C5A75D}"/>
              </a:ext>
            </a:extLst>
          </p:cNvPr>
          <p:cNvSpPr txBox="1"/>
          <p:nvPr/>
        </p:nvSpPr>
        <p:spPr>
          <a:xfrm>
            <a:off x="6343573" y="3648977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= 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E2F10F-023A-3163-D9AE-A268E4DC6914}"/>
              </a:ext>
            </a:extLst>
          </p:cNvPr>
          <p:cNvSpPr txBox="1"/>
          <p:nvPr/>
        </p:nvSpPr>
        <p:spPr>
          <a:xfrm>
            <a:off x="5367995" y="3232475"/>
            <a:ext cx="1019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= 1.25</a:t>
            </a:r>
          </a:p>
        </p:txBody>
      </p:sp>
    </p:spTree>
    <p:extLst>
      <p:ext uri="{BB962C8B-B14F-4D97-AF65-F5344CB8AC3E}">
        <p14:creationId xmlns:p14="http://schemas.microsoft.com/office/powerpoint/2010/main" val="3381392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C9A4E2E-13D0-CE6E-E6F6-F7ADB9C98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0"/>
            <a:ext cx="7772400" cy="6477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4EFF47-CB2E-630A-8140-AA416CC9E6B6}"/>
              </a:ext>
            </a:extLst>
          </p:cNvPr>
          <p:cNvSpPr txBox="1"/>
          <p:nvPr/>
        </p:nvSpPr>
        <p:spPr>
          <a:xfrm>
            <a:off x="7924800" y="3190439"/>
            <a:ext cx="4267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 scaling behaviors differ between ecoregions?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Kinda, but not a 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about ecoregion and time?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 more interesting, plenty to discuss here I think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AA315C-6397-9434-ADF2-FE24E4F79E5E}"/>
              </a:ext>
            </a:extLst>
          </p:cNvPr>
          <p:cNvSpPr txBox="1"/>
          <p:nvPr/>
        </p:nvSpPr>
        <p:spPr>
          <a:xfrm>
            <a:off x="7772400" y="1411069"/>
            <a:ext cx="4267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Key point 2: metabolism allometry is relatively consistent across ecoregions but varies through time</a:t>
            </a:r>
          </a:p>
        </p:txBody>
      </p:sp>
    </p:spTree>
    <p:extLst>
      <p:ext uri="{BB962C8B-B14F-4D97-AF65-F5344CB8AC3E}">
        <p14:creationId xmlns:p14="http://schemas.microsoft.com/office/powerpoint/2010/main" val="4068305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 preview">
            <a:extLst>
              <a:ext uri="{FF2B5EF4-FFF2-40B4-BE49-F238E27FC236}">
                <a16:creationId xmlns:a16="http://schemas.microsoft.com/office/drawing/2014/main" id="{1BB4B995-0387-F6E0-0E62-8DBA9091AA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313" b="39425"/>
          <a:stretch>
            <a:fillRect/>
          </a:stretch>
        </p:blipFill>
        <p:spPr>
          <a:xfrm>
            <a:off x="1590011" y="2993534"/>
            <a:ext cx="2640532" cy="366126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F0D6162-EB79-2C42-32D0-52964EAB1335}"/>
              </a:ext>
            </a:extLst>
          </p:cNvPr>
          <p:cNvCxnSpPr/>
          <p:nvPr/>
        </p:nvCxnSpPr>
        <p:spPr>
          <a:xfrm flipV="1">
            <a:off x="2059912" y="387866"/>
            <a:ext cx="5436158" cy="48573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B48D2E-0C6C-D298-B468-6D1655351876}"/>
              </a:ext>
            </a:extLst>
          </p:cNvPr>
          <p:cNvCxnSpPr>
            <a:cxnSpLocks/>
          </p:cNvCxnSpPr>
          <p:nvPr/>
        </p:nvCxnSpPr>
        <p:spPr>
          <a:xfrm flipV="1">
            <a:off x="2212312" y="203200"/>
            <a:ext cx="3073121" cy="51944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6F893C-1842-1340-699F-F6F7F4BBB49D}"/>
              </a:ext>
            </a:extLst>
          </p:cNvPr>
          <p:cNvCxnSpPr>
            <a:cxnSpLocks/>
          </p:cNvCxnSpPr>
          <p:nvPr/>
        </p:nvCxnSpPr>
        <p:spPr>
          <a:xfrm flipV="1">
            <a:off x="2364712" y="2816553"/>
            <a:ext cx="6246725" cy="27334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BCD0398-1FF3-0180-BF75-5F08863C3996}"/>
              </a:ext>
            </a:extLst>
          </p:cNvPr>
          <p:cNvSpPr/>
          <p:nvPr/>
        </p:nvSpPr>
        <p:spPr>
          <a:xfrm>
            <a:off x="4777991" y="2572322"/>
            <a:ext cx="276330" cy="251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B075BD-06E0-5831-19FC-56DD15D1792B}"/>
              </a:ext>
            </a:extLst>
          </p:cNvPr>
          <p:cNvSpPr/>
          <p:nvPr/>
        </p:nvSpPr>
        <p:spPr>
          <a:xfrm>
            <a:off x="6810270" y="705003"/>
            <a:ext cx="276330" cy="25120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73B993-F2F2-78F9-A507-1F3D0A7EC3A5}"/>
              </a:ext>
            </a:extLst>
          </p:cNvPr>
          <p:cNvSpPr txBox="1"/>
          <p:nvPr/>
        </p:nvSpPr>
        <p:spPr>
          <a:xfrm>
            <a:off x="644056" y="644056"/>
            <a:ext cx="82436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Based on best available estimates,</a:t>
            </a:r>
          </a:p>
          <a:p>
            <a:r>
              <a:rPr lang="en-US" dirty="0"/>
              <a:t>Consistent </a:t>
            </a:r>
            <a:r>
              <a:rPr lang="en-US" dirty="0" err="1"/>
              <a:t>superlinear</a:t>
            </a:r>
            <a:r>
              <a:rPr lang="en-US" dirty="0"/>
              <a:t>, which means the bigger, the more impactful (per unit area)</a:t>
            </a:r>
          </a:p>
        </p:txBody>
      </p:sp>
    </p:spTree>
    <p:extLst>
      <p:ext uri="{BB962C8B-B14F-4D97-AF65-F5344CB8AC3E}">
        <p14:creationId xmlns:p14="http://schemas.microsoft.com/office/powerpoint/2010/main" val="2384460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25591C-56F1-3155-09E9-47BD16E2B40E}"/>
              </a:ext>
            </a:extLst>
          </p:cNvPr>
          <p:cNvSpPr/>
          <p:nvPr/>
        </p:nvSpPr>
        <p:spPr>
          <a:xfrm>
            <a:off x="1435261" y="983848"/>
            <a:ext cx="1435261" cy="3588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F14A99-72C8-7E00-A1C7-11DE78F184C6}"/>
              </a:ext>
            </a:extLst>
          </p:cNvPr>
          <p:cNvSpPr/>
          <p:nvPr/>
        </p:nvSpPr>
        <p:spPr>
          <a:xfrm>
            <a:off x="2870522" y="983847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8D3C14-5254-B884-EB7E-BA17A076572E}"/>
              </a:ext>
            </a:extLst>
          </p:cNvPr>
          <p:cNvSpPr/>
          <p:nvPr/>
        </p:nvSpPr>
        <p:spPr>
          <a:xfrm>
            <a:off x="4305783" y="983847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17F5B1-92E3-22DA-9AA2-DF97622D93F8}"/>
              </a:ext>
            </a:extLst>
          </p:cNvPr>
          <p:cNvSpPr/>
          <p:nvPr/>
        </p:nvSpPr>
        <p:spPr>
          <a:xfrm>
            <a:off x="5741044" y="983847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635413-8942-3B3B-DEE2-4725D6F82A70}"/>
              </a:ext>
            </a:extLst>
          </p:cNvPr>
          <p:cNvSpPr/>
          <p:nvPr/>
        </p:nvSpPr>
        <p:spPr>
          <a:xfrm>
            <a:off x="7176305" y="983846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C614ED-4667-2E8B-7D51-E0B382F46D29}"/>
              </a:ext>
            </a:extLst>
          </p:cNvPr>
          <p:cNvSpPr txBox="1"/>
          <p:nvPr/>
        </p:nvSpPr>
        <p:spPr>
          <a:xfrm>
            <a:off x="315918" y="983846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29B55D-7C11-7CB8-E526-00A77DBF535C}"/>
              </a:ext>
            </a:extLst>
          </p:cNvPr>
          <p:cNvSpPr/>
          <p:nvPr/>
        </p:nvSpPr>
        <p:spPr>
          <a:xfrm>
            <a:off x="1435261" y="1529787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E1155B-0910-C0F5-76A7-B226C6BFC4EE}"/>
              </a:ext>
            </a:extLst>
          </p:cNvPr>
          <p:cNvSpPr/>
          <p:nvPr/>
        </p:nvSpPr>
        <p:spPr>
          <a:xfrm>
            <a:off x="2870522" y="1529786"/>
            <a:ext cx="1435261" cy="3588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A8FFBA-6582-09C7-1A9B-528DE688DE04}"/>
              </a:ext>
            </a:extLst>
          </p:cNvPr>
          <p:cNvSpPr/>
          <p:nvPr/>
        </p:nvSpPr>
        <p:spPr>
          <a:xfrm>
            <a:off x="4305783" y="1529786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F8EA50-8AAD-7241-E5DF-397F1E48521E}"/>
              </a:ext>
            </a:extLst>
          </p:cNvPr>
          <p:cNvSpPr/>
          <p:nvPr/>
        </p:nvSpPr>
        <p:spPr>
          <a:xfrm>
            <a:off x="5741044" y="1529786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57342F-211F-0924-7248-CDE4F1CC3AE4}"/>
              </a:ext>
            </a:extLst>
          </p:cNvPr>
          <p:cNvSpPr/>
          <p:nvPr/>
        </p:nvSpPr>
        <p:spPr>
          <a:xfrm>
            <a:off x="7176305" y="1529785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6E1EFB-7BCF-0C3B-C46C-7ED04EB99886}"/>
              </a:ext>
            </a:extLst>
          </p:cNvPr>
          <p:cNvSpPr txBox="1"/>
          <p:nvPr/>
        </p:nvSpPr>
        <p:spPr>
          <a:xfrm>
            <a:off x="315918" y="1529785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241E6EB-B981-D6DE-CD86-7FC5FF19D5EA}"/>
              </a:ext>
            </a:extLst>
          </p:cNvPr>
          <p:cNvSpPr/>
          <p:nvPr/>
        </p:nvSpPr>
        <p:spPr>
          <a:xfrm>
            <a:off x="1435261" y="2087111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12FEAB-CE73-9D64-811A-3FA9A8A0D098}"/>
              </a:ext>
            </a:extLst>
          </p:cNvPr>
          <p:cNvSpPr/>
          <p:nvPr/>
        </p:nvSpPr>
        <p:spPr>
          <a:xfrm>
            <a:off x="2870522" y="2087110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AFE1-5978-1CDE-82F1-711AC43D418D}"/>
              </a:ext>
            </a:extLst>
          </p:cNvPr>
          <p:cNvSpPr/>
          <p:nvPr/>
        </p:nvSpPr>
        <p:spPr>
          <a:xfrm>
            <a:off x="4305783" y="2087110"/>
            <a:ext cx="1435261" cy="3588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02D94F-D786-4631-423E-2D3C5507416B}"/>
              </a:ext>
            </a:extLst>
          </p:cNvPr>
          <p:cNvSpPr/>
          <p:nvPr/>
        </p:nvSpPr>
        <p:spPr>
          <a:xfrm>
            <a:off x="5741044" y="2087110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A851919-CA22-C6F9-794D-20E93EA7C69F}"/>
              </a:ext>
            </a:extLst>
          </p:cNvPr>
          <p:cNvSpPr/>
          <p:nvPr/>
        </p:nvSpPr>
        <p:spPr>
          <a:xfrm>
            <a:off x="7176305" y="2087109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7ACAEF-528E-8C66-11C6-DCE537752BCA}"/>
              </a:ext>
            </a:extLst>
          </p:cNvPr>
          <p:cNvSpPr txBox="1"/>
          <p:nvPr/>
        </p:nvSpPr>
        <p:spPr>
          <a:xfrm>
            <a:off x="315918" y="2087109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C07A8C-EC4A-E03D-6DDA-B39F34163240}"/>
              </a:ext>
            </a:extLst>
          </p:cNvPr>
          <p:cNvSpPr/>
          <p:nvPr/>
        </p:nvSpPr>
        <p:spPr>
          <a:xfrm>
            <a:off x="1435261" y="2633917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9024E3-ED65-B32D-64CE-60C461230AEB}"/>
              </a:ext>
            </a:extLst>
          </p:cNvPr>
          <p:cNvSpPr/>
          <p:nvPr/>
        </p:nvSpPr>
        <p:spPr>
          <a:xfrm>
            <a:off x="2870522" y="2633916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D55991-A82E-7D0C-69CF-CE0BB5E171F5}"/>
              </a:ext>
            </a:extLst>
          </p:cNvPr>
          <p:cNvSpPr/>
          <p:nvPr/>
        </p:nvSpPr>
        <p:spPr>
          <a:xfrm>
            <a:off x="4305783" y="2633916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2C0F2A5-3755-60B3-22AB-F05A461A88D6}"/>
              </a:ext>
            </a:extLst>
          </p:cNvPr>
          <p:cNvSpPr/>
          <p:nvPr/>
        </p:nvSpPr>
        <p:spPr>
          <a:xfrm>
            <a:off x="5741044" y="2633916"/>
            <a:ext cx="1435261" cy="3588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0504C4-8243-9190-B77C-703E5B21AC72}"/>
              </a:ext>
            </a:extLst>
          </p:cNvPr>
          <p:cNvSpPr/>
          <p:nvPr/>
        </p:nvSpPr>
        <p:spPr>
          <a:xfrm>
            <a:off x="7176305" y="2633915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592066-E78E-4F78-4B37-5DE3C303D379}"/>
              </a:ext>
            </a:extLst>
          </p:cNvPr>
          <p:cNvSpPr txBox="1"/>
          <p:nvPr/>
        </p:nvSpPr>
        <p:spPr>
          <a:xfrm>
            <a:off x="315918" y="2633915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97D8F12-21F7-1EBD-3BD2-E502BCE8BA7B}"/>
              </a:ext>
            </a:extLst>
          </p:cNvPr>
          <p:cNvSpPr/>
          <p:nvPr/>
        </p:nvSpPr>
        <p:spPr>
          <a:xfrm>
            <a:off x="1435261" y="3180721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2186742-2876-4C0E-1EC0-7BAAF5374787}"/>
              </a:ext>
            </a:extLst>
          </p:cNvPr>
          <p:cNvSpPr/>
          <p:nvPr/>
        </p:nvSpPr>
        <p:spPr>
          <a:xfrm>
            <a:off x="2870522" y="3180720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0F0AF71-C0F2-AFE9-7E89-7638E7DEEB29}"/>
              </a:ext>
            </a:extLst>
          </p:cNvPr>
          <p:cNvSpPr/>
          <p:nvPr/>
        </p:nvSpPr>
        <p:spPr>
          <a:xfrm>
            <a:off x="4305783" y="3180720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CEA73-8629-7718-9DB3-68E4FC595893}"/>
              </a:ext>
            </a:extLst>
          </p:cNvPr>
          <p:cNvSpPr/>
          <p:nvPr/>
        </p:nvSpPr>
        <p:spPr>
          <a:xfrm>
            <a:off x="5741044" y="3180720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FBAB11-1E6E-446E-E105-F084B4F2F1F7}"/>
              </a:ext>
            </a:extLst>
          </p:cNvPr>
          <p:cNvSpPr/>
          <p:nvPr/>
        </p:nvSpPr>
        <p:spPr>
          <a:xfrm>
            <a:off x="7176305" y="3180719"/>
            <a:ext cx="1435261" cy="3588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F1E576-0649-A0B6-B835-D5DD41273E80}"/>
              </a:ext>
            </a:extLst>
          </p:cNvPr>
          <p:cNvSpPr txBox="1"/>
          <p:nvPr/>
        </p:nvSpPr>
        <p:spPr>
          <a:xfrm>
            <a:off x="315918" y="3180719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 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593FA6D-B58D-BC9C-20B4-906CDD3479B9}"/>
              </a:ext>
            </a:extLst>
          </p:cNvPr>
          <p:cNvSpPr/>
          <p:nvPr/>
        </p:nvSpPr>
        <p:spPr>
          <a:xfrm>
            <a:off x="9122781" y="966481"/>
            <a:ext cx="1435261" cy="35881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58A16B-70CE-A9D6-D63E-FA3AE0FECD18}"/>
              </a:ext>
            </a:extLst>
          </p:cNvPr>
          <p:cNvSpPr/>
          <p:nvPr/>
        </p:nvSpPr>
        <p:spPr>
          <a:xfrm>
            <a:off x="9122780" y="1529784"/>
            <a:ext cx="1435261" cy="35881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5A0191B-B58C-A19E-60BE-51363F1CDBE2}"/>
              </a:ext>
            </a:extLst>
          </p:cNvPr>
          <p:cNvCxnSpPr/>
          <p:nvPr/>
        </p:nvCxnSpPr>
        <p:spPr>
          <a:xfrm>
            <a:off x="1435261" y="4039565"/>
            <a:ext cx="717630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6E6A98FC-4455-564C-21B2-910AB32B7208}"/>
              </a:ext>
            </a:extLst>
          </p:cNvPr>
          <p:cNvSpPr txBox="1"/>
          <p:nvPr/>
        </p:nvSpPr>
        <p:spPr>
          <a:xfrm>
            <a:off x="4621700" y="4039564"/>
            <a:ext cx="668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03409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ross-sectional diagram of a stream ecosystem shows major oxygen cycling processes: water flows in and out, surface-atmosphere exchange, water column, benthos, and hyporheic zone interactions with dissolved oxygen, plus a formula expressing oxygen change as the sum of reaeration and gross primary production minus ecosystem respiration.">
            <a:extLst>
              <a:ext uri="{FF2B5EF4-FFF2-40B4-BE49-F238E27FC236}">
                <a16:creationId xmlns:a16="http://schemas.microsoft.com/office/drawing/2014/main" id="{FC1A9CB6-36DD-C517-3AF0-5B92CEE05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44" y="2009003"/>
            <a:ext cx="5108681" cy="25971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7ABBFC-714C-CB8E-8248-C821E69208FC}"/>
              </a:ext>
            </a:extLst>
          </p:cNvPr>
          <p:cNvSpPr/>
          <p:nvPr/>
        </p:nvSpPr>
        <p:spPr>
          <a:xfrm>
            <a:off x="6615113" y="3729037"/>
            <a:ext cx="3711513" cy="557213"/>
          </a:xfrm>
          <a:prstGeom prst="rect">
            <a:avLst/>
          </a:prstGeom>
          <a:solidFill>
            <a:srgbClr val="AD91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098CB6-219D-5F20-3631-981278702B70}"/>
              </a:ext>
            </a:extLst>
          </p:cNvPr>
          <p:cNvSpPr/>
          <p:nvPr/>
        </p:nvSpPr>
        <p:spPr>
          <a:xfrm>
            <a:off x="6615112" y="2300288"/>
            <a:ext cx="3711513" cy="1428750"/>
          </a:xfrm>
          <a:prstGeom prst="rect">
            <a:avLst/>
          </a:prstGeom>
          <a:solidFill>
            <a:srgbClr val="BCD6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C9E36A-7CD2-7FEC-B3AC-E56141BBA4EF}"/>
              </a:ext>
            </a:extLst>
          </p:cNvPr>
          <p:cNvSpPr txBox="1"/>
          <p:nvPr/>
        </p:nvSpPr>
        <p:spPr>
          <a:xfrm>
            <a:off x="6615112" y="962712"/>
            <a:ext cx="45226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 – respiration</a:t>
            </a:r>
          </a:p>
          <a:p>
            <a:r>
              <a:rPr lang="en-US" dirty="0" err="1"/>
              <a:t>ERwc</a:t>
            </a:r>
            <a:r>
              <a:rPr lang="en-US" dirty="0"/>
              <a:t> – water column ER (one off measures)</a:t>
            </a:r>
          </a:p>
          <a:p>
            <a:r>
              <a:rPr lang="en-US" dirty="0" err="1"/>
              <a:t>ERtot</a:t>
            </a:r>
            <a:r>
              <a:rPr lang="en-US" dirty="0"/>
              <a:t> – DO sensors (continuous)</a:t>
            </a:r>
          </a:p>
          <a:p>
            <a:r>
              <a:rPr lang="en-US" dirty="0"/>
              <a:t>ERsed = </a:t>
            </a:r>
            <a:r>
              <a:rPr lang="en-US" dirty="0" err="1"/>
              <a:t>ERtot</a:t>
            </a:r>
            <a:r>
              <a:rPr lang="en-US" dirty="0"/>
              <a:t> - </a:t>
            </a:r>
            <a:r>
              <a:rPr lang="en-US" dirty="0" err="1"/>
              <a:t>ERwc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780002-6E97-C6B0-A008-785D04786AF9}"/>
              </a:ext>
            </a:extLst>
          </p:cNvPr>
          <p:cNvSpPr txBox="1"/>
          <p:nvPr/>
        </p:nvSpPr>
        <p:spPr>
          <a:xfrm>
            <a:off x="8062744" y="2759631"/>
            <a:ext cx="738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ERwc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E2945-4A58-8952-A823-EDC1AC5450AE}"/>
              </a:ext>
            </a:extLst>
          </p:cNvPr>
          <p:cNvSpPr txBox="1"/>
          <p:nvPr/>
        </p:nvSpPr>
        <p:spPr>
          <a:xfrm>
            <a:off x="8029880" y="3752612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ERsed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55E12B18-B866-0E70-4675-EB3CC5350E28}"/>
              </a:ext>
            </a:extLst>
          </p:cNvPr>
          <p:cNvSpPr/>
          <p:nvPr/>
        </p:nvSpPr>
        <p:spPr>
          <a:xfrm>
            <a:off x="10326625" y="2300288"/>
            <a:ext cx="228601" cy="198596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653952-5E7F-F40A-8902-A2247FB67997}"/>
              </a:ext>
            </a:extLst>
          </p:cNvPr>
          <p:cNvSpPr txBox="1"/>
          <p:nvPr/>
        </p:nvSpPr>
        <p:spPr>
          <a:xfrm>
            <a:off x="10619280" y="3071813"/>
            <a:ext cx="728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ERtot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9029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AD36CB-FB77-AD94-8B90-7D6A004E6044}"/>
              </a:ext>
            </a:extLst>
          </p:cNvPr>
          <p:cNvSpPr/>
          <p:nvPr/>
        </p:nvSpPr>
        <p:spPr>
          <a:xfrm>
            <a:off x="2371725" y="771525"/>
            <a:ext cx="1214438" cy="2171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fiberglass</a:t>
            </a:r>
          </a:p>
        </p:txBody>
      </p:sp>
      <p:sp>
        <p:nvSpPr>
          <p:cNvPr id="4" name="Triangle 3">
            <a:extLst>
              <a:ext uri="{FF2B5EF4-FFF2-40B4-BE49-F238E27FC236}">
                <a16:creationId xmlns:a16="http://schemas.microsoft.com/office/drawing/2014/main" id="{1ED0D5A8-CF43-390F-FDDD-68F70EDD5266}"/>
              </a:ext>
            </a:extLst>
          </p:cNvPr>
          <p:cNvSpPr/>
          <p:nvPr/>
        </p:nvSpPr>
        <p:spPr>
          <a:xfrm rot="10800000">
            <a:off x="2371725" y="2957512"/>
            <a:ext cx="1214438" cy="92868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D73347-BC2E-D053-6EFA-1C1648608816}"/>
              </a:ext>
            </a:extLst>
          </p:cNvPr>
          <p:cNvSpPr/>
          <p:nvPr/>
        </p:nvSpPr>
        <p:spPr>
          <a:xfrm flipV="1">
            <a:off x="2886076" y="3743326"/>
            <a:ext cx="185738" cy="17145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8416D5-FDFE-6C0D-1F81-0ECC60EB348E}"/>
              </a:ext>
            </a:extLst>
          </p:cNvPr>
          <p:cNvSpPr/>
          <p:nvPr/>
        </p:nvSpPr>
        <p:spPr>
          <a:xfrm>
            <a:off x="4338637" y="785812"/>
            <a:ext cx="1214438" cy="21717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fiberglass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3E3F1377-F38B-1909-D5AD-D1441106434E}"/>
              </a:ext>
            </a:extLst>
          </p:cNvPr>
          <p:cNvSpPr/>
          <p:nvPr/>
        </p:nvSpPr>
        <p:spPr>
          <a:xfrm rot="10800000">
            <a:off x="4338637" y="2971799"/>
            <a:ext cx="1214438" cy="928687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1247F-DC5B-D821-F2F7-A9D125F9193B}"/>
              </a:ext>
            </a:extLst>
          </p:cNvPr>
          <p:cNvSpPr/>
          <p:nvPr/>
        </p:nvSpPr>
        <p:spPr>
          <a:xfrm flipV="1">
            <a:off x="4852988" y="3757613"/>
            <a:ext cx="185738" cy="51435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411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9B5968-8457-A0D1-75DF-74C5050B4D7B}"/>
              </a:ext>
            </a:extLst>
          </p:cNvPr>
          <p:cNvSpPr/>
          <p:nvPr/>
        </p:nvSpPr>
        <p:spPr>
          <a:xfrm>
            <a:off x="1985963" y="1328738"/>
            <a:ext cx="2143125" cy="39862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8BD42EC-7CBD-AEBF-BB02-49FBFEA362C4}"/>
              </a:ext>
            </a:extLst>
          </p:cNvPr>
          <p:cNvCxnSpPr>
            <a:stCxn id="2" idx="0"/>
            <a:endCxn id="2" idx="2"/>
          </p:cNvCxnSpPr>
          <p:nvPr/>
        </p:nvCxnSpPr>
        <p:spPr>
          <a:xfrm>
            <a:off x="3057526" y="1328738"/>
            <a:ext cx="0" cy="3986212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F365BEB1-560E-93D8-FCB4-BEBB2B4C493D}"/>
              </a:ext>
            </a:extLst>
          </p:cNvPr>
          <p:cNvSpPr/>
          <p:nvPr/>
        </p:nvSpPr>
        <p:spPr>
          <a:xfrm>
            <a:off x="2000250" y="3386138"/>
            <a:ext cx="958351" cy="242887"/>
          </a:xfrm>
          <a:custGeom>
            <a:avLst/>
            <a:gdLst>
              <a:gd name="csX0" fmla="*/ 0 w 958351"/>
              <a:gd name="csY0" fmla="*/ 128587 h 242887"/>
              <a:gd name="csX1" fmla="*/ 71438 w 958351"/>
              <a:gd name="csY1" fmla="*/ 85725 h 242887"/>
              <a:gd name="csX2" fmla="*/ 114300 w 958351"/>
              <a:gd name="csY2" fmla="*/ 42862 h 242887"/>
              <a:gd name="csX3" fmla="*/ 157163 w 958351"/>
              <a:gd name="csY3" fmla="*/ 14287 h 242887"/>
              <a:gd name="csX4" fmla="*/ 185738 w 958351"/>
              <a:gd name="csY4" fmla="*/ 100012 h 242887"/>
              <a:gd name="csX5" fmla="*/ 242888 w 958351"/>
              <a:gd name="csY5" fmla="*/ 14287 h 242887"/>
              <a:gd name="csX6" fmla="*/ 285750 w 958351"/>
              <a:gd name="csY6" fmla="*/ 0 h 242887"/>
              <a:gd name="csX7" fmla="*/ 314325 w 958351"/>
              <a:gd name="csY7" fmla="*/ 114300 h 242887"/>
              <a:gd name="csX8" fmla="*/ 357188 w 958351"/>
              <a:gd name="csY8" fmla="*/ 185737 h 242887"/>
              <a:gd name="csX9" fmla="*/ 385763 w 958351"/>
              <a:gd name="csY9" fmla="*/ 242887 h 242887"/>
              <a:gd name="csX10" fmla="*/ 428625 w 958351"/>
              <a:gd name="csY10" fmla="*/ 214312 h 242887"/>
              <a:gd name="csX11" fmla="*/ 442913 w 958351"/>
              <a:gd name="csY11" fmla="*/ 114300 h 242887"/>
              <a:gd name="csX12" fmla="*/ 428625 w 958351"/>
              <a:gd name="csY12" fmla="*/ 171450 h 242887"/>
              <a:gd name="csX13" fmla="*/ 442913 w 958351"/>
              <a:gd name="csY13" fmla="*/ 228600 h 242887"/>
              <a:gd name="csX14" fmla="*/ 542925 w 958351"/>
              <a:gd name="csY14" fmla="*/ 157162 h 242887"/>
              <a:gd name="csX15" fmla="*/ 657225 w 958351"/>
              <a:gd name="csY15" fmla="*/ 42862 h 242887"/>
              <a:gd name="csX16" fmla="*/ 700088 w 958351"/>
              <a:gd name="csY16" fmla="*/ 114300 h 242887"/>
              <a:gd name="csX17" fmla="*/ 742950 w 958351"/>
              <a:gd name="csY17" fmla="*/ 100012 h 242887"/>
              <a:gd name="csX18" fmla="*/ 800100 w 958351"/>
              <a:gd name="csY18" fmla="*/ 142875 h 242887"/>
              <a:gd name="csX19" fmla="*/ 828675 w 958351"/>
              <a:gd name="csY19" fmla="*/ 200025 h 242887"/>
              <a:gd name="csX20" fmla="*/ 871538 w 958351"/>
              <a:gd name="csY20" fmla="*/ 242887 h 242887"/>
              <a:gd name="csX21" fmla="*/ 957263 w 958351"/>
              <a:gd name="csY21" fmla="*/ 157162 h 242887"/>
              <a:gd name="csX22" fmla="*/ 957263 w 958351"/>
              <a:gd name="csY22" fmla="*/ 142875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958351" h="242887">
                <a:moveTo>
                  <a:pt x="0" y="128587"/>
                </a:moveTo>
                <a:cubicBezTo>
                  <a:pt x="23813" y="114300"/>
                  <a:pt x="49222" y="102387"/>
                  <a:pt x="71438" y="85725"/>
                </a:cubicBezTo>
                <a:cubicBezTo>
                  <a:pt x="87602" y="73602"/>
                  <a:pt x="98778" y="55797"/>
                  <a:pt x="114300" y="42862"/>
                </a:cubicBezTo>
                <a:cubicBezTo>
                  <a:pt x="127492" y="31869"/>
                  <a:pt x="142875" y="23812"/>
                  <a:pt x="157163" y="14287"/>
                </a:cubicBezTo>
                <a:cubicBezTo>
                  <a:pt x="166688" y="42862"/>
                  <a:pt x="169030" y="125074"/>
                  <a:pt x="185738" y="100012"/>
                </a:cubicBezTo>
                <a:cubicBezTo>
                  <a:pt x="204788" y="71437"/>
                  <a:pt x="210307" y="25147"/>
                  <a:pt x="242888" y="14287"/>
                </a:cubicBezTo>
                <a:lnTo>
                  <a:pt x="285750" y="0"/>
                </a:lnTo>
                <a:cubicBezTo>
                  <a:pt x="295275" y="38100"/>
                  <a:pt x="300227" y="77645"/>
                  <a:pt x="314325" y="114300"/>
                </a:cubicBezTo>
                <a:cubicBezTo>
                  <a:pt x="324294" y="140219"/>
                  <a:pt x="343702" y="161462"/>
                  <a:pt x="357188" y="185737"/>
                </a:cubicBezTo>
                <a:cubicBezTo>
                  <a:pt x="367532" y="204355"/>
                  <a:pt x="376238" y="223837"/>
                  <a:pt x="385763" y="242887"/>
                </a:cubicBezTo>
                <a:cubicBezTo>
                  <a:pt x="400050" y="233362"/>
                  <a:pt x="421651" y="230003"/>
                  <a:pt x="428625" y="214312"/>
                </a:cubicBezTo>
                <a:cubicBezTo>
                  <a:pt x="442302" y="183539"/>
                  <a:pt x="442913" y="147976"/>
                  <a:pt x="442913" y="114300"/>
                </a:cubicBezTo>
                <a:cubicBezTo>
                  <a:pt x="442913" y="94664"/>
                  <a:pt x="433388" y="152400"/>
                  <a:pt x="428625" y="171450"/>
                </a:cubicBezTo>
                <a:cubicBezTo>
                  <a:pt x="433388" y="190500"/>
                  <a:pt x="424284" y="222390"/>
                  <a:pt x="442913" y="228600"/>
                </a:cubicBezTo>
                <a:cubicBezTo>
                  <a:pt x="503427" y="248771"/>
                  <a:pt x="518112" y="184457"/>
                  <a:pt x="542925" y="157162"/>
                </a:cubicBezTo>
                <a:cubicBezTo>
                  <a:pt x="579170" y="117293"/>
                  <a:pt x="657225" y="42862"/>
                  <a:pt x="657225" y="42862"/>
                </a:cubicBezTo>
                <a:cubicBezTo>
                  <a:pt x="682514" y="245167"/>
                  <a:pt x="646247" y="157373"/>
                  <a:pt x="700088" y="114300"/>
                </a:cubicBezTo>
                <a:cubicBezTo>
                  <a:pt x="711848" y="104892"/>
                  <a:pt x="728663" y="104775"/>
                  <a:pt x="742950" y="100012"/>
                </a:cubicBezTo>
                <a:cubicBezTo>
                  <a:pt x="762000" y="114300"/>
                  <a:pt x="784603" y="124795"/>
                  <a:pt x="800100" y="142875"/>
                </a:cubicBezTo>
                <a:cubicBezTo>
                  <a:pt x="813961" y="159046"/>
                  <a:pt x="816295" y="182694"/>
                  <a:pt x="828675" y="200025"/>
                </a:cubicBezTo>
                <a:cubicBezTo>
                  <a:pt x="840419" y="216467"/>
                  <a:pt x="857250" y="228600"/>
                  <a:pt x="871538" y="242887"/>
                </a:cubicBezTo>
                <a:cubicBezTo>
                  <a:pt x="921434" y="209623"/>
                  <a:pt x="921819" y="216234"/>
                  <a:pt x="957263" y="157162"/>
                </a:cubicBezTo>
                <a:cubicBezTo>
                  <a:pt x="959713" y="153078"/>
                  <a:pt x="957263" y="147637"/>
                  <a:pt x="957263" y="14287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EBA552C-D304-F384-59BA-9B132C7D4C67}"/>
              </a:ext>
            </a:extLst>
          </p:cNvPr>
          <p:cNvSpPr/>
          <p:nvPr/>
        </p:nvSpPr>
        <p:spPr>
          <a:xfrm>
            <a:off x="3114132" y="2586038"/>
            <a:ext cx="958350" cy="395287"/>
          </a:xfrm>
          <a:custGeom>
            <a:avLst/>
            <a:gdLst>
              <a:gd name="csX0" fmla="*/ 0 w 958351"/>
              <a:gd name="csY0" fmla="*/ 128587 h 242887"/>
              <a:gd name="csX1" fmla="*/ 71438 w 958351"/>
              <a:gd name="csY1" fmla="*/ 85725 h 242887"/>
              <a:gd name="csX2" fmla="*/ 114300 w 958351"/>
              <a:gd name="csY2" fmla="*/ 42862 h 242887"/>
              <a:gd name="csX3" fmla="*/ 157163 w 958351"/>
              <a:gd name="csY3" fmla="*/ 14287 h 242887"/>
              <a:gd name="csX4" fmla="*/ 185738 w 958351"/>
              <a:gd name="csY4" fmla="*/ 100012 h 242887"/>
              <a:gd name="csX5" fmla="*/ 242888 w 958351"/>
              <a:gd name="csY5" fmla="*/ 14287 h 242887"/>
              <a:gd name="csX6" fmla="*/ 285750 w 958351"/>
              <a:gd name="csY6" fmla="*/ 0 h 242887"/>
              <a:gd name="csX7" fmla="*/ 314325 w 958351"/>
              <a:gd name="csY7" fmla="*/ 114300 h 242887"/>
              <a:gd name="csX8" fmla="*/ 357188 w 958351"/>
              <a:gd name="csY8" fmla="*/ 185737 h 242887"/>
              <a:gd name="csX9" fmla="*/ 385763 w 958351"/>
              <a:gd name="csY9" fmla="*/ 242887 h 242887"/>
              <a:gd name="csX10" fmla="*/ 428625 w 958351"/>
              <a:gd name="csY10" fmla="*/ 214312 h 242887"/>
              <a:gd name="csX11" fmla="*/ 442913 w 958351"/>
              <a:gd name="csY11" fmla="*/ 114300 h 242887"/>
              <a:gd name="csX12" fmla="*/ 428625 w 958351"/>
              <a:gd name="csY12" fmla="*/ 171450 h 242887"/>
              <a:gd name="csX13" fmla="*/ 442913 w 958351"/>
              <a:gd name="csY13" fmla="*/ 228600 h 242887"/>
              <a:gd name="csX14" fmla="*/ 542925 w 958351"/>
              <a:gd name="csY14" fmla="*/ 157162 h 242887"/>
              <a:gd name="csX15" fmla="*/ 657225 w 958351"/>
              <a:gd name="csY15" fmla="*/ 42862 h 242887"/>
              <a:gd name="csX16" fmla="*/ 700088 w 958351"/>
              <a:gd name="csY16" fmla="*/ 114300 h 242887"/>
              <a:gd name="csX17" fmla="*/ 742950 w 958351"/>
              <a:gd name="csY17" fmla="*/ 100012 h 242887"/>
              <a:gd name="csX18" fmla="*/ 800100 w 958351"/>
              <a:gd name="csY18" fmla="*/ 142875 h 242887"/>
              <a:gd name="csX19" fmla="*/ 828675 w 958351"/>
              <a:gd name="csY19" fmla="*/ 200025 h 242887"/>
              <a:gd name="csX20" fmla="*/ 871538 w 958351"/>
              <a:gd name="csY20" fmla="*/ 242887 h 242887"/>
              <a:gd name="csX21" fmla="*/ 957263 w 958351"/>
              <a:gd name="csY21" fmla="*/ 157162 h 242887"/>
              <a:gd name="csX22" fmla="*/ 957263 w 958351"/>
              <a:gd name="csY22" fmla="*/ 142875 h 242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958351" h="242887">
                <a:moveTo>
                  <a:pt x="0" y="128587"/>
                </a:moveTo>
                <a:cubicBezTo>
                  <a:pt x="23813" y="114300"/>
                  <a:pt x="49222" y="102387"/>
                  <a:pt x="71438" y="85725"/>
                </a:cubicBezTo>
                <a:cubicBezTo>
                  <a:pt x="87602" y="73602"/>
                  <a:pt x="98778" y="55797"/>
                  <a:pt x="114300" y="42862"/>
                </a:cubicBezTo>
                <a:cubicBezTo>
                  <a:pt x="127492" y="31869"/>
                  <a:pt x="142875" y="23812"/>
                  <a:pt x="157163" y="14287"/>
                </a:cubicBezTo>
                <a:cubicBezTo>
                  <a:pt x="166688" y="42862"/>
                  <a:pt x="169030" y="125074"/>
                  <a:pt x="185738" y="100012"/>
                </a:cubicBezTo>
                <a:cubicBezTo>
                  <a:pt x="204788" y="71437"/>
                  <a:pt x="210307" y="25147"/>
                  <a:pt x="242888" y="14287"/>
                </a:cubicBezTo>
                <a:lnTo>
                  <a:pt x="285750" y="0"/>
                </a:lnTo>
                <a:cubicBezTo>
                  <a:pt x="295275" y="38100"/>
                  <a:pt x="300227" y="77645"/>
                  <a:pt x="314325" y="114300"/>
                </a:cubicBezTo>
                <a:cubicBezTo>
                  <a:pt x="324294" y="140219"/>
                  <a:pt x="343702" y="161462"/>
                  <a:pt x="357188" y="185737"/>
                </a:cubicBezTo>
                <a:cubicBezTo>
                  <a:pt x="367532" y="204355"/>
                  <a:pt x="376238" y="223837"/>
                  <a:pt x="385763" y="242887"/>
                </a:cubicBezTo>
                <a:cubicBezTo>
                  <a:pt x="400050" y="233362"/>
                  <a:pt x="421651" y="230003"/>
                  <a:pt x="428625" y="214312"/>
                </a:cubicBezTo>
                <a:cubicBezTo>
                  <a:pt x="442302" y="183539"/>
                  <a:pt x="442913" y="147976"/>
                  <a:pt x="442913" y="114300"/>
                </a:cubicBezTo>
                <a:cubicBezTo>
                  <a:pt x="442913" y="94664"/>
                  <a:pt x="433388" y="152400"/>
                  <a:pt x="428625" y="171450"/>
                </a:cubicBezTo>
                <a:cubicBezTo>
                  <a:pt x="433388" y="190500"/>
                  <a:pt x="424284" y="222390"/>
                  <a:pt x="442913" y="228600"/>
                </a:cubicBezTo>
                <a:cubicBezTo>
                  <a:pt x="503427" y="248771"/>
                  <a:pt x="518112" y="184457"/>
                  <a:pt x="542925" y="157162"/>
                </a:cubicBezTo>
                <a:cubicBezTo>
                  <a:pt x="579170" y="117293"/>
                  <a:pt x="657225" y="42862"/>
                  <a:pt x="657225" y="42862"/>
                </a:cubicBezTo>
                <a:cubicBezTo>
                  <a:pt x="682514" y="245167"/>
                  <a:pt x="646247" y="157373"/>
                  <a:pt x="700088" y="114300"/>
                </a:cubicBezTo>
                <a:cubicBezTo>
                  <a:pt x="711848" y="104892"/>
                  <a:pt x="728663" y="104775"/>
                  <a:pt x="742950" y="100012"/>
                </a:cubicBezTo>
                <a:cubicBezTo>
                  <a:pt x="762000" y="114300"/>
                  <a:pt x="784603" y="124795"/>
                  <a:pt x="800100" y="142875"/>
                </a:cubicBezTo>
                <a:cubicBezTo>
                  <a:pt x="813961" y="159046"/>
                  <a:pt x="816295" y="182694"/>
                  <a:pt x="828675" y="200025"/>
                </a:cubicBezTo>
                <a:cubicBezTo>
                  <a:pt x="840419" y="216467"/>
                  <a:pt x="857250" y="228600"/>
                  <a:pt x="871538" y="242887"/>
                </a:cubicBezTo>
                <a:cubicBezTo>
                  <a:pt x="921434" y="209623"/>
                  <a:pt x="921819" y="216234"/>
                  <a:pt x="957263" y="157162"/>
                </a:cubicBezTo>
                <a:cubicBezTo>
                  <a:pt x="959713" y="153078"/>
                  <a:pt x="957263" y="147637"/>
                  <a:pt x="957263" y="142875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97F73-9F4F-BCCE-AC0B-CC4EC0925764}"/>
              </a:ext>
            </a:extLst>
          </p:cNvPr>
          <p:cNvSpPr txBox="1"/>
          <p:nvPr/>
        </p:nvSpPr>
        <p:spPr>
          <a:xfrm>
            <a:off x="538162" y="2401372"/>
            <a:ext cx="2273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Previous deployment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7358F2-2079-58B4-8860-2295ACFDBAF2}"/>
              </a:ext>
            </a:extLst>
          </p:cNvPr>
          <p:cNvSpPr txBox="1"/>
          <p:nvPr/>
        </p:nvSpPr>
        <p:spPr>
          <a:xfrm>
            <a:off x="3178427" y="3374231"/>
            <a:ext cx="1881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Next deployment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7C5025-7A4C-64B3-BAA7-EA5EF3D20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0" y="1422400"/>
            <a:ext cx="46101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57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8587</TotalTime>
  <Words>266</Words>
  <Application>Microsoft Macintosh PowerPoint</Application>
  <PresentationFormat>Widescreen</PresentationFormat>
  <Paragraphs>49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Regier, Peter</dc:creator>
  <cp:lastModifiedBy>Regier, Peter</cp:lastModifiedBy>
  <cp:revision>3</cp:revision>
  <dcterms:created xsi:type="dcterms:W3CDTF">2026-09-25T15:53:41Z</dcterms:created>
  <dcterms:modified xsi:type="dcterms:W3CDTF">2026-10-02T16:39:46Z</dcterms:modified>
</cp:coreProperties>
</file>